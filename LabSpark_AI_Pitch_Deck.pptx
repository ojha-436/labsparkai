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0D9488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3108960"/>
            <a:ext cx="3291840" cy="329184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2296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11271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229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ON GOOGLE CLOUD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LabSpark AI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C7D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science teacher you can talk to —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C7D2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a real 3D lab.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AI-tutored, NCERT Class 6–10 virtual science labs · Powered by Google Gemini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Proposal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gen-lang-client-0686614374.web.app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Students learn science without ever doing 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science is mandatory in CBSE/NCERT and carries board-exam marks — yet most Indian students get very little real lab time. Today's digital alternatives are passive: students watch, they don't do, and there's no one to ask.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350215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834640"/>
            <a:ext cx="3502152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3291840"/>
            <a:ext cx="457200" cy="457200"/>
          </a:xfrm>
          <a:prstGeom prst="ellipse">
            <a:avLst/>
          </a:prstGeom>
          <a:solidFill>
            <a:srgbClr val="FFEDD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886200"/>
            <a:ext cx="2770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working labs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343400"/>
            <a:ext cx="2770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schools lack functioning labs, chemicals or equipment.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5112" y="2834640"/>
            <a:ext cx="350215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5112" y="2834640"/>
            <a:ext cx="3502152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hape 11"/>
          <p:cNvSpPr/>
          <p:nvPr/>
        </p:nvSpPr>
        <p:spPr>
          <a:xfrm>
            <a:off x="4690872" y="3291840"/>
            <a:ext cx="457200" cy="45720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14" name="Text 12"/>
          <p:cNvSpPr/>
          <p:nvPr/>
        </p:nvSpPr>
        <p:spPr>
          <a:xfrm>
            <a:off x="4690872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90872" y="3886200"/>
            <a:ext cx="2770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Rationed access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90872" y="4343400"/>
            <a:ext cx="2770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good schools limit lab time; practicals get copied from a manual.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10144" y="2834640"/>
            <a:ext cx="350215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10144" y="2834640"/>
            <a:ext cx="3502152" cy="10972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Shape 17"/>
          <p:cNvSpPr/>
          <p:nvPr/>
        </p:nvSpPr>
        <p:spPr>
          <a:xfrm>
            <a:off x="8375904" y="3291840"/>
            <a:ext cx="457200" cy="45720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20" name="Text 18"/>
          <p:cNvSpPr/>
          <p:nvPr/>
        </p:nvSpPr>
        <p:spPr>
          <a:xfrm>
            <a:off x="8375904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75904" y="3886200"/>
            <a:ext cx="2770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Passive screens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75904" y="4343400"/>
            <a:ext cx="2770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simulations are fixed animations — nothing to ask, no adaptation.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LabSpark AI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3447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massive, policy-backed market — right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6946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331720"/>
            <a:ext cx="2569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$3.6B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EdTech market (2025)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19856" y="1920240"/>
            <a:ext cx="256946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9856" y="2331720"/>
            <a:ext cx="2569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46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43%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02736" y="333756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K-12 — the largest segment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9632" y="1920240"/>
            <a:ext cx="256946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9632" y="2331720"/>
            <a:ext cx="2569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150M+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82512" y="333756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Class 6–10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9408" y="1920240"/>
            <a:ext cx="256946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79408" y="2331720"/>
            <a:ext cx="25694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NEP 2020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62288" y="3337560"/>
            <a:ext cx="22037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experiential learning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5262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Sept 2025 NCERT launched DIKSHA 2.0 with AI-enabled adaptive learning — national validation that AI in school learning is now a priority. The capability (Gemini), the policy (NEP 2020) and the cost curve have only just converged.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126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IMARC, Grand View Research, NCERT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LabSpark 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3447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LabSpark AI: an AI tutor inside a 3D lab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8600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86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65960" y="22585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3D Labs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965960" y="271576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WebGL lab rooms — pick up apparatus, dip litmus, test with a magnet.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286000"/>
            <a:ext cx="777240" cy="7772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286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43800" y="22585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Conversational Tutor 'Spark'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43800" y="271576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answers questions, narrates steps and adapts — like a teacher beside them.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325112"/>
            <a:ext cx="777240" cy="7772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32511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65960" y="4297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Two-Way Live Voice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965960" y="47548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ask out loud and hear Spark reply, in real time.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913632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325112"/>
            <a:ext cx="777240" cy="7772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32511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43800" y="4297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Grading + Certificates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543800" y="47548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conceptual feedback and an official NCERT lab certificate.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LabSpark AI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63447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login to certificate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97510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35024" y="2651760"/>
            <a:ext cx="585216" cy="5852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335024" y="2651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 the 3D lab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class &amp; subject; Spark greets you.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33472" y="30175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871216" y="2377440"/>
            <a:ext cx="197510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2651760"/>
            <a:ext cx="585216" cy="58521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651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08376" y="338328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 it hands-on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08376" y="393192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Manipulate realistic 3D components.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64608" y="30175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102352" y="2377440"/>
            <a:ext cx="197510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97296" y="2651760"/>
            <a:ext cx="585216" cy="58521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5797296" y="2651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39512" y="338328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Spark anything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39512" y="393192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text — instant, syllabus-grounded help.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95744" y="30175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333488" y="2377440"/>
            <a:ext cx="197510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28432" y="2651760"/>
            <a:ext cx="585216" cy="58521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4" name="Text 22"/>
          <p:cNvSpPr/>
          <p:nvPr/>
        </p:nvSpPr>
        <p:spPr>
          <a:xfrm>
            <a:off x="8028432" y="2651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70648" y="338328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Classify &amp; submit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70648" y="393192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observations in the lab notebook.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6880" y="30175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9564624" y="2377440"/>
            <a:ext cx="197510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59568" y="2651760"/>
            <a:ext cx="585216" cy="58521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0" name="Text 28"/>
          <p:cNvSpPr/>
          <p:nvPr/>
        </p:nvSpPr>
        <p:spPr>
          <a:xfrm>
            <a:off x="10259568" y="26517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701784" y="338328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graded + certified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01784" y="393192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feedback and an official certificate.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LabSpark AI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63447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 concept — it's already built &amp; live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56232"/>
            <a:ext cx="310896" cy="310896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62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Google Gemini tutor (text + live voice)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310896" cy="310896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328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50545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3D WebGL lab rooms with realistic apparatus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09544"/>
            <a:ext cx="310896" cy="310896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09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18211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working NCERT labs (Classes 6–10, Physics &amp; Chemistry)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310896" cy="310896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8587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AI grading + auto lab certificates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55080" y="1856232"/>
            <a:ext cx="310896" cy="310896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8562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12280" y="1828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profiles, progress &amp; achievements (Firestore)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2532888"/>
            <a:ext cx="310896" cy="310896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5328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12280" y="250545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Cost-engineered to a fraction of ₹1 per session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55080" y="3209544"/>
            <a:ext cx="310896" cy="310896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32095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12280" y="318211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Auth-secured, rate-limited backend on Cloud Run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355080" y="3886200"/>
            <a:ext cx="5166360" cy="1371600"/>
          </a:xfrm>
          <a:prstGeom prst="rect">
            <a:avLst/>
          </a:prstGeom>
          <a:solidFill>
            <a:srgbClr val="0B1324"/>
          </a:solidFill>
          <a:ln/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29400" y="4069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29400" y="4389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gen-lang-client-0686614374.web.app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29400" y="48280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Firebase Hosting + Cloud Run (Mumbai)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LabSpark AI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3447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NOTE — INDIA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virtual-lab landscape today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1600200"/>
                <a:gridCol w="1600200"/>
                <a:gridCol w="822960"/>
                <a:gridCol w="167335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Tutor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Voice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NCERT 6–10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OLabs (Govt)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simulations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DIKSHA (Govt)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Simulations + adaptive lessons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LabInApp (BYJU'S)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visualisation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PraxiLabs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sims (global)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LabSpark 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lab + live AI tutor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olabs.edu.in · diksha.gov.in · cbinsights.com/company/labinapp · praxilabs.com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LabSpark AI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63447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Others give a student a simulation to </a:t>
            </a:r>
            <a:pPr indent="0" marL="0">
              <a:lnSpc>
                <a:spcPct val="105000"/>
              </a:lnSpc>
              <a:buNone/>
            </a:pPr>
            <a:r>
              <a:rPr lang="en-US" sz="3000" b="1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</a:t>
            </a:r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LabSpark gives them a teacher to 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i="1" dirty="0">
                <a:solidFill>
                  <a:srgbClr val="CCFB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talk to</a:t>
            </a:r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5303520" cy="1371600"/>
          </a:xfrm>
          <a:prstGeom prst="rect">
            <a:avLst/>
          </a:prstGeom>
          <a:solidFill>
            <a:srgbClr val="13213A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33375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31272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Conversational AI in the lab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737360" y="354787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Gemini tutor that listens, explains and adapts — no India-focused platform offers this.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926080"/>
            <a:ext cx="5303520" cy="1371600"/>
          </a:xfrm>
          <a:prstGeom prst="rect">
            <a:avLst/>
          </a:prstGeom>
          <a:solidFill>
            <a:srgbClr val="13213A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33375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0" y="31272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two-way voice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315200" y="354787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out loud, hear the answer. Hands stay on the experiment.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526280"/>
            <a:ext cx="5303520" cy="1371600"/>
          </a:xfrm>
          <a:prstGeom prst="rect">
            <a:avLst/>
          </a:prstGeom>
          <a:solidFill>
            <a:srgbClr val="13213A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9377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37360" y="47274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Personalised grading &amp; certificates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737360" y="514807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feedback per student, not a fixed score.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4526280"/>
            <a:ext cx="5303520" cy="1371600"/>
          </a:xfrm>
          <a:prstGeom prst="rect">
            <a:avLst/>
          </a:prstGeom>
          <a:solidFill>
            <a:srgbClr val="13213A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49377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0" y="472744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Affordable at India scale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315200" y="514807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Cost-engineered to under ₹1 per session on Google Cloud.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LabSpark AI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63447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GCP-native, secure &amp; scalable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8803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35915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+ Vite App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8529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3D labs · Firebase Hosting (CDN)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17720" y="2103120"/>
            <a:ext cx="2880360" cy="1554480"/>
          </a:xfrm>
          <a:prstGeom prst="rect">
            <a:avLst/>
          </a:prstGeom>
          <a:solidFill>
            <a:srgbClr val="0F172A"/>
          </a:solidFill>
          <a:ln w="19050">
            <a:solidFill>
              <a:srgbClr val="0F172A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235915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Run Backend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8529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Auth-gated · rate-limited · WebSocket relay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95360" y="2103120"/>
            <a:ext cx="28803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0" y="235915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Gemini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32520" y="285292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Flash (text) · Live native-audio (voice)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560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498080" y="25603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6858000" cy="86868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14800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Cloud Firestore — accounts, progress &amp; certificates (per-student secured)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63840" y="4114800"/>
            <a:ext cx="3685032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4114800"/>
            <a:ext cx="34107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key stays server-side · never in the browser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440680"/>
            <a:ext cx="1161288" cy="38404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440680"/>
            <a:ext cx="1161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984248" y="5440680"/>
            <a:ext cx="2107692" cy="38404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1984248" y="5440680"/>
            <a:ext cx="21076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Three Fiber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74820" y="5440680"/>
            <a:ext cx="950976" cy="38404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4274820" y="5440680"/>
            <a:ext cx="9509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08676" y="5440680"/>
            <a:ext cx="1266444" cy="38404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5408676" y="5440680"/>
            <a:ext cx="12664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0" y="5440680"/>
            <a:ext cx="1161288" cy="38404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5440680"/>
            <a:ext cx="1161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02168" y="5440680"/>
            <a:ext cx="1266444" cy="38404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8202168" y="5440680"/>
            <a:ext cx="12664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LabSpark 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3447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Engineered to be affordable at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120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→  AFTER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trike="sngStrike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₹25</a:t>
            </a:r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→   </a:t>
            </a:r>
            <a:pPr algn="ctr" indent="0" marL="0">
              <a:buNone/>
            </a:pPr>
            <a:r>
              <a:rPr lang="en-US" sz="5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₹1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lab session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25× cheaper · supports ≥ 80% gross margin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55080" y="192024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did 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55080" y="2450592"/>
            <a:ext cx="292608" cy="292608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450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75704" y="2423160"/>
            <a:ext cx="4745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guided narration —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speech + cached voice clips — ₹0.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3017520"/>
            <a:ext cx="292608" cy="292608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017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75704" y="2990088"/>
            <a:ext cx="4745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only on demand —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model used only for novel questions &amp; grading.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3584448"/>
            <a:ext cx="292608" cy="292608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5844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75704" y="3557016"/>
            <a:ext cx="4745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common answers —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questions answered locally, free.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4151376"/>
            <a:ext cx="292608" cy="292608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41513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75704" y="4123944"/>
            <a:ext cx="4745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voice is opt-in —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mode, capped per user.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LabSpark 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3447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done — and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534924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COMPLETED &amp; LIVE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GCP-native rebuild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302666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302666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Gemini tutor + grader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344728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4472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live voice (Gemini Live)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386791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8679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3D lab rooms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428853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428853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optimisation (~₹0/session)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0120" y="47091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progress, achievements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0120" y="512978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51297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&amp; rate-limited backend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60120" y="555040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55504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engine + 5 NCERT labs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1828800"/>
            <a:ext cx="5193792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55080" y="1828800"/>
            <a:ext cx="5193792" cy="5486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18288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NEXT (THE ASK)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75120" y="2651760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265176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406640" y="26517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20–30 labs (now data-only)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675120" y="3127248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3127248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406640" y="312724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Monetisation: credits + payments + B2B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675120" y="3602736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3602736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406640" y="360273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3–5 school pilots + teacher analytics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675120" y="4078224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4078224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406640" y="407822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+ low-end devices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675120" y="4553712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39" name="Text 37"/>
          <p:cNvSpPr/>
          <p:nvPr/>
        </p:nvSpPr>
        <p:spPr>
          <a:xfrm>
            <a:off x="6675120" y="4553712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406640" y="455371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NCERT-textbook RAG grounding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675120" y="5029200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42" name="Text 40"/>
          <p:cNvSpPr/>
          <p:nvPr/>
        </p:nvSpPr>
        <p:spPr>
          <a:xfrm>
            <a:off x="6675120" y="502920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406640" y="502920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Spark (Hindi + regional)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675120" y="5504688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45" name="Text 43"/>
          <p:cNvSpPr/>
          <p:nvPr/>
        </p:nvSpPr>
        <p:spPr>
          <a:xfrm>
            <a:off x="6675120" y="5504688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406640" y="550468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(WCAG) pass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LabSpark AI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63447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023360"/>
            <a:ext cx="4023360" cy="402336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Greenlight the next build phase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hardest, riskiest milestones are done and live. What remains is mostly cheap content scaling and go-to-market.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3502152" cy="2011680"/>
          </a:xfrm>
          <a:prstGeom prst="rect">
            <a:avLst/>
          </a:prstGeom>
          <a:solidFill>
            <a:srgbClr val="13213A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3375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60120" y="402336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the catalogue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443484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20–30 labs across Classes 6–10 — now just data.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5112" y="3063240"/>
            <a:ext cx="3502152" cy="2011680"/>
          </a:xfrm>
          <a:prstGeom prst="rect">
            <a:avLst/>
          </a:prstGeom>
          <a:solidFill>
            <a:srgbClr val="13213A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33375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645152" y="402336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 monetisation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45152" y="443484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credits, payments, and a B2B school dashboard.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10144" y="3063240"/>
            <a:ext cx="3502152" cy="2011680"/>
          </a:xfrm>
          <a:prstGeom prst="rect">
            <a:avLst/>
          </a:prstGeom>
          <a:solidFill>
            <a:srgbClr val="13213A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33375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330184" y="4023360"/>
            <a:ext cx="2862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school pilots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30184" y="443484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schools for proof, testimonials &amp; B2B pipeline.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live:  </a:t>
            </a:r>
            <a:pPr indent="0" marL="0">
              <a:buNone/>
            </a:pPr>
            <a:r>
              <a:rPr lang="en-US" sz="125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gen-lang-client-0686614374.web.app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Code:  github.com/ojha-436/LabSparkAI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LabSpark AI — Project Overview &amp; Proposal</dc:title>
  <dc:subject>PptxGenJS Presentation</dc:subject>
  <dc:creator>LabSpark AI</dc:creator>
  <cp:lastModifiedBy>LabSpark AI</cp:lastModifiedBy>
  <cp:revision>1</cp:revision>
  <dcterms:created xsi:type="dcterms:W3CDTF">2026-06-05T06:20:14Z</dcterms:created>
  <dcterms:modified xsi:type="dcterms:W3CDTF">2026-06-05T06:20:14Z</dcterms:modified>
</cp:coreProperties>
</file>